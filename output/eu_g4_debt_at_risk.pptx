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8A951"/>
                </a:solidFill>
              </a:rPr>
              <a:t>EU G4 Debt-at-Risk — Board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21792"/>
            <a:ext cx="10058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Based on IMF Working Paper WP/25/86 · Furceri, Giannone, Kisat, Lam &amp; Li (May 2025)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5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C8A951"/>
                </a:solidFill>
              </a:rPr>
              <a:t>April 2026</a:t>
            </a:r>
          </a:p>
        </p:txBody>
      </p:sp>
      <p:pic>
        <p:nvPicPr>
          <p:cNvPr id="6" name="Picture 5" descr="fig0_global_con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612880" cy="52120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37960"/>
            <a:ext cx="12188952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" y="6528816"/>
            <a:ext cx="1188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</a:rPr>
              <a:t>IMF WP/25/86 Methodology |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8A951"/>
                </a:solidFill>
              </a:rPr>
              <a:t>Debt-at-Risk Fan Charts — EU G4 (2024–2027 Horizon)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21792"/>
            <a:ext cx="10058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Shaded bands: P5–P95 distribution conditional on current macro-financial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5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C8A951"/>
                </a:solidFill>
              </a:rPr>
              <a:t>April 2026</a:t>
            </a:r>
          </a:p>
        </p:txBody>
      </p:sp>
      <p:pic>
        <p:nvPicPr>
          <p:cNvPr id="6" name="Picture 5" descr="fig1_fan_cha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11612880" cy="5532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37960"/>
            <a:ext cx="12188952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" y="6528816"/>
            <a:ext cx="1188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</a:rPr>
              <a:t>IMF WP/25/86 Methodology |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8A951"/>
                </a:solidFill>
              </a:rPr>
              <a:t>Upside Risk Decomposition by Driver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21792"/>
            <a:ext cx="10058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Contribution of macro-financial drivers to DaR (P95 − P50) — 3-year horizon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5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C8A951"/>
                </a:solidFill>
              </a:rPr>
              <a:t>April 2026</a:t>
            </a:r>
          </a:p>
        </p:txBody>
      </p:sp>
      <p:pic>
        <p:nvPicPr>
          <p:cNvPr id="6" name="Picture 5" descr="fig3_waterf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11612880" cy="53949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37960"/>
            <a:ext cx="12188952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" y="6528816"/>
            <a:ext cx="1188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</a:rPr>
              <a:t>IMF WP/25/86 Methodology |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8A951"/>
                </a:solidFill>
              </a:rPr>
              <a:t>Fiscal Crisis Early-Warning Signals — EU G4 (2025–2026)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21792"/>
            <a:ext cx="10058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Logit model: crisis probability ~ upside debt risk (P95 − P50) | Laeven-Valencia crisis episodes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5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C8A951"/>
                </a:solidFill>
              </a:rPr>
              <a:t>April 2026</a:t>
            </a:r>
          </a:p>
        </p:txBody>
      </p:sp>
      <p:pic>
        <p:nvPicPr>
          <p:cNvPr id="6" name="Picture 5" descr="fig4_crisis_sig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7772400" cy="5212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21040" y="10972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2A4A"/>
                </a:solidFill>
              </a:rPr>
              <a:t>Crisis Probability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50876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B2A4A"/>
                </a:solidFill>
              </a:rPr>
              <a:t>France 2025: 4.5% 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181965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B2A4A"/>
                </a:solidFill>
              </a:rPr>
              <a:t>France 2026: 4.5% 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213055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B2A4A"/>
                </a:solidFill>
              </a:rPr>
              <a:t>Germany 2025: 5.5% 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441448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B2A4A"/>
                </a:solidFill>
              </a:rPr>
              <a:t>Germany 2026: 5.5% 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752344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B2A4A"/>
                </a:solidFill>
              </a:rPr>
              <a:t>Italy 2025: 1.5% 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3063239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B2A4A"/>
                </a:solidFill>
              </a:rPr>
              <a:t>Italy 2026: 1.5% 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374135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B2A4A"/>
                </a:solidFill>
              </a:rPr>
              <a:t>Spain 2025: 2.4% 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685031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B2A4A"/>
                </a:solidFill>
              </a:rPr>
              <a:t>Spain 2026: 2.4% 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37960"/>
            <a:ext cx="12188952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" y="6528816"/>
            <a:ext cx="1188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</a:rPr>
              <a:t>IMF WP/25/86 Methodology |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8A951"/>
                </a:solidFill>
              </a:rPr>
              <a:t>Policy Implications &amp; 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21792"/>
            <a:ext cx="10058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Edit this slide with current policy conclusions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5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C8A951"/>
                </a:solidFill>
              </a:rPr>
              <a:t>April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2A4A"/>
                </a:solidFill>
              </a:rPr>
              <a:t>Debt-at-Risk Summary (2027 Horizon)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B2A4A"/>
                </a:solidFill>
              </a:rPr>
              <a:t>France      WEO Baseline: 117.0%  │  Median: 117.0%  │  DaR (P95): 128.1%  │  Upside: +11.1 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8424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B2A4A"/>
                </a:solidFill>
              </a:rPr>
              <a:t>Germany     WEO Baseline: 68.5%  │  Median: 68.5%  │  DaR (P95): 84.8%  │  Upside: +16.3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68296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B2A4A"/>
                </a:solidFill>
              </a:rPr>
              <a:t>Italy       WEO Baseline: 138.0%  │  Median: 138.0%  │  DaR (P95): 147.2%  │  Upside: +9.2 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52344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B2A4A"/>
                </a:solidFill>
              </a:rPr>
              <a:t>Spain       WEO Baseline: 103.5%  │  Median: 103.5%  │  DaR (P95): 114.5%  │  Upside: +11.0 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00400"/>
            <a:ext cx="11430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B2A4A"/>
                </a:solidFill>
              </a:rPr>
              <a:t>1.  Italy and France face the highest Debt-at-Risk: model-implied P95 paths exceed 130–145% of GDP by 2027 under adverse macro-financial scenarios.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730752"/>
            <a:ext cx="11430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B2A4A"/>
                </a:solidFill>
              </a:rPr>
              <a:t>2.  Primary balance consolidation remains the dominant driver of upside risk across all G4 economies, followed by sovereign spread widening for periphery sovereigns.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61104"/>
            <a:ext cx="11430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B2A4A"/>
                </a:solidFill>
              </a:rPr>
              <a:t>3.  Fiscal crisis early-warning scores are elevated for Spain and Italy (2025–2026), warranting contingency planning.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791456"/>
            <a:ext cx="11430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B2A4A"/>
                </a:solidFill>
              </a:rPr>
              <a:t>4.  Germany's lower DaR reflects fiscal space; however, uncertainty-driven tail risks have risen post-2022.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21808"/>
            <a:ext cx="11430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B2A4A"/>
                </a:solidFill>
              </a:rPr>
              <a:t>5.  [EDIT] Recommended policy action: Commit to credible medium-term fiscal frameworks to anchor debt expectations and narrow the DaR-to-baseline gap.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0080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8A951"/>
                </a:solidFill>
              </a:rPr>
              <a:t>Methodology: Machado-Santos Silva (2019) location-scale quantile regression · Log-score density pooling (Crump et al. 2022) · IMF WP/25/86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37960"/>
            <a:ext cx="12188952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" y="6528816"/>
            <a:ext cx="1188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</a:rPr>
              <a:t>IMF WP/25/86 Methodology |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